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280160"/>
            <a:ext cx="5669280" cy="5669280"/>
          </a:xfrm>
          <a:prstGeom prst="ellipse">
            <a:avLst/>
          </a:prstGeom>
          <a:noFill/>
          <a:ln w="12700">
            <a:solidFill>
              <a:srgbClr val="17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457200"/>
            <a:ext cx="4023360" cy="4023360"/>
          </a:xfrm>
          <a:prstGeom prst="ellipse">
            <a:avLst/>
          </a:prstGeom>
          <a:noFill/>
          <a:ln w="12700">
            <a:solidFill>
              <a:srgbClr val="17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20">
                <a:solidFill>
                  <a:srgbClr val="FFA37D"/>
                </a:solidFill>
                <a:latin typeface="Lato"/>
              </a:rPr>
              <a:t>TP 9 · INITIATION AU DÉVELOPPEMENT D'APPLICATION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FFFFFF"/>
                </a:solidFill>
                <a:latin typeface="Lato"/>
              </a:rPr>
              <a:t>Les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B9CBE3"/>
                </a:solidFill>
                <a:latin typeface="Lato"/>
              </a:rPr>
              <a:t>dans le cycle de vie</a:t>
            </a:r>
          </a:p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B9CBE3"/>
                </a:solidFill>
                <a:latin typeface="Lato"/>
              </a:rPr>
              <a:t>d'une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914400" cy="50292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FA6C0"/>
                </a:solidFill>
                <a:latin typeface="Lato"/>
              </a:rPr>
              <a:t>Pourquoi un build réussi ne suffit pas : types de tests, outils Angular et Spring Boot, pipeline CI/CD et cas concret issu d'une user 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90288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122743"/>
          </a:solidFill>
          <a:ln w="12700">
            <a:solidFill>
              <a:srgbClr val="27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4599431"/>
            <a:ext cx="14859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D6E4F5"/>
                </a:solidFill>
                <a:latin typeface="Lato"/>
              </a:rPr>
              <a:t>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3996" y="4590288"/>
            <a:ext cx="2308860" cy="310896"/>
          </a:xfrm>
          <a:prstGeom prst="roundRect">
            <a:avLst>
              <a:gd name="adj" fmla="val 50000"/>
            </a:avLst>
          </a:prstGeom>
          <a:solidFill>
            <a:srgbClr val="122743"/>
          </a:solidFill>
          <a:ln w="12700">
            <a:solidFill>
              <a:srgbClr val="27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253996" y="4599431"/>
            <a:ext cx="23088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D6E4F5"/>
                </a:solidFill>
                <a:latin typeface="Lato"/>
              </a:rPr>
              <a:t>Angular · Spring Boot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0872" y="4590288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122743"/>
          </a:solidFill>
          <a:ln w="12700">
            <a:solidFill>
              <a:srgbClr val="274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90872" y="4599431"/>
            <a:ext cx="14859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D6E4F5"/>
                </a:solidFill>
                <a:latin typeface="Lato"/>
              </a:rPr>
              <a:t>Code réel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Lato"/>
              </a:rPr>
              <a:t>AKALETE Koffi Levis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F96B3"/>
                </a:solidFill>
                <a:latin typeface="Lato"/>
              </a:rPr>
              <a:t>02 novembre 2026</a:t>
            </a:r>
          </a:p>
        </p:txBody>
      </p:sp>
      <p:pic>
        <p:nvPicPr>
          <p:cNvPr id="18" name="Picture 17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32688"/>
            <a:ext cx="4681728" cy="48172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POURQUOI TESTER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« Ça compile » ne veut pas dire « ça marche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Le build prouve la faisabilité ; le test prouve le comportement.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02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4892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59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1783080"/>
            <a:ext cx="4892040" cy="64008"/>
          </a:xfrm>
          <a:prstGeom prst="rect">
            <a:avLst/>
          </a:prstGeom>
          <a:solidFill>
            <a:srgbClr val="15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199339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159A55"/>
                </a:solidFill>
                <a:latin typeface="Lato"/>
              </a:rPr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938528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86200" y="1947672"/>
            <a:ext cx="1389888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159A55"/>
                </a:solidFill>
                <a:latin typeface="Lato"/>
              </a:rPr>
              <a:t>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3591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B33"/>
                </a:solidFill>
                <a:latin typeface="Lato"/>
              </a:rPr>
              <a:t>Ce qu'il garantit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0837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15568" y="28986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C2E"/>
                </a:solidFill>
                <a:latin typeface="Lato"/>
              </a:rPr>
              <a:t>Compilation</a:t>
            </a:r>
            <a:r>
              <a:rPr sz="1150" b="0" i="0">
                <a:solidFill>
                  <a:srgbClr val="5D6E86"/>
                </a:solidFill>
                <a:latin typeface="Lato"/>
              </a:rPr>
              <a:t> : le code compile.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8386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15568" y="337413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C2E"/>
                </a:solidFill>
                <a:latin typeface="Lato"/>
              </a:rPr>
              <a:t>Artefact</a:t>
            </a:r>
            <a:r>
              <a:rPr sz="1150" b="0" i="0">
                <a:solidFill>
                  <a:srgbClr val="5D6E86"/>
                </a:solidFill>
                <a:latin typeface="Lato"/>
              </a:rPr>
              <a:t> : dist/ ou .jar est généré.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4133087"/>
            <a:ext cx="4370832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6112" y="42793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1">
                <a:solidFill>
                  <a:srgbClr val="5D6E86"/>
                </a:solidFill>
                <a:latin typeface="Lato"/>
              </a:rPr>
              <a:t>Faisabilité technique — pas la qualité.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6832" y="1783080"/>
            <a:ext cx="4892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56832" y="1783080"/>
            <a:ext cx="4892040" cy="6400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12864" y="199339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1938528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902952" y="1947672"/>
            <a:ext cx="1389888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F05A28"/>
                </a:solidFill>
                <a:latin typeface="Lato"/>
              </a:rPr>
              <a:t>GO / NO-GO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23591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B33"/>
                </a:solidFill>
                <a:latin typeface="Lato"/>
              </a:rPr>
              <a:t>Ce qu'il vérifie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1152" y="3008376"/>
            <a:ext cx="82296" cy="82296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20" y="28986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C2E"/>
                </a:solidFill>
                <a:latin typeface="Lato"/>
              </a:rPr>
              <a:t>Comportement</a:t>
            </a:r>
            <a:r>
              <a:rPr sz="1150" b="0" i="0">
                <a:solidFill>
                  <a:srgbClr val="5D6E86"/>
                </a:solidFill>
                <a:latin typeface="Lato"/>
              </a:rPr>
              <a:t> : la règle métier est respectée.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31152" y="3483864"/>
            <a:ext cx="82296" cy="82296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0" y="337413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C2E"/>
                </a:solidFill>
                <a:latin typeface="Lato"/>
              </a:rPr>
              <a:t>Régression</a:t>
            </a:r>
            <a:r>
              <a:rPr sz="1150" b="0" i="0">
                <a:solidFill>
                  <a:srgbClr val="5D6E86"/>
                </a:solidFill>
                <a:latin typeface="Lato"/>
              </a:rPr>
              <a:t> : l'existant ne casse pas.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12864" y="4133087"/>
            <a:ext cx="4370832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12864" y="42793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1">
                <a:solidFill>
                  <a:srgbClr val="5D6E86"/>
                </a:solidFill>
                <a:latin typeface="Lato"/>
              </a:rPr>
              <a:t>Qualité fonctionnelle — avant la livraison.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687568" y="3017520"/>
            <a:ext cx="749808" cy="420624"/>
          </a:xfrm>
          <a:prstGeom prst="rightArrow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6128" y="349300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D6E86"/>
                </a:solidFill>
                <a:latin typeface="Lato"/>
              </a:rPr>
              <a:t>puis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10912"/>
            <a:ext cx="10911535" cy="1243584"/>
          </a:xfrm>
          <a:prstGeom prst="roundRect">
            <a:avLst>
              <a:gd name="adj" fmla="val 5000"/>
            </a:avLst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05840" y="519379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200">
                <a:solidFill>
                  <a:srgbClr val="FFA37D"/>
                </a:solidFill>
                <a:latin typeface="Lato"/>
              </a:rPr>
              <a:t>DEFINITION OF 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4315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Lato"/>
              </a:rPr>
              <a:t>Code review </a:t>
            </a:r>
            <a:r>
              <a:rPr sz="1650" b="1" i="0">
                <a:solidFill>
                  <a:srgbClr val="7EE2A8"/>
                </a:solidFill>
                <a:latin typeface="Lato"/>
              </a:rPr>
              <a:t>✓</a:t>
            </a:r>
            <a:r>
              <a:rPr sz="1650" b="1" i="0">
                <a:solidFill>
                  <a:srgbClr val="FFFFFF"/>
                </a:solidFill>
                <a:latin typeface="Lato"/>
              </a:rPr>
              <a:t>   +   Build </a:t>
            </a:r>
            <a:r>
              <a:rPr sz="1650" b="1" i="0">
                <a:solidFill>
                  <a:srgbClr val="7EE2A8"/>
                </a:solidFill>
                <a:latin typeface="Lato"/>
              </a:rPr>
              <a:t>✓</a:t>
            </a:r>
            <a:r>
              <a:rPr sz="1650" b="1" i="0">
                <a:solidFill>
                  <a:srgbClr val="FFFFFF"/>
                </a:solidFill>
                <a:latin typeface="Lato"/>
              </a:rPr>
              <a:t>   +   Tests </a:t>
            </a:r>
            <a:r>
              <a:rPr sz="1650" b="1" i="0">
                <a:solidFill>
                  <a:srgbClr val="7EE2A8"/>
                </a:solidFill>
                <a:latin typeface="Lato"/>
              </a:rPr>
              <a:t>✓</a:t>
            </a:r>
            <a:r>
              <a:rPr sz="1650" b="1" i="0">
                <a:solidFill>
                  <a:srgbClr val="FFFFFF"/>
                </a:solidFill>
                <a:latin typeface="Lato"/>
              </a:rPr>
              <a:t>   =   prêt pour la Release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88873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9CBE3"/>
                </a:solidFill>
                <a:latin typeface="Lato"/>
              </a:rPr>
              <a:t>Sans tests, une régression peut atteindre la production sans être détectée.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DÉFINITIONS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Le test et le rapport de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Le test compare l'attendu au réel ; le rapport transforme cette exécution en preuve.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03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4892040" cy="1572768"/>
          </a:xfrm>
          <a:prstGeom prst="roundRect">
            <a:avLst>
              <a:gd name="adj" fmla="val 6000"/>
            </a:avLst>
          </a:prstGeom>
          <a:solidFill>
            <a:srgbClr val="FFF3EC"/>
          </a:solidFill>
          <a:ln w="15240">
            <a:solidFill>
              <a:srgbClr val="F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7824" y="19476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200">
                <a:solidFill>
                  <a:srgbClr val="F05A28"/>
                </a:solidFill>
                <a:latin typeface="Lato"/>
              </a:rPr>
              <a:t>LE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9456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B33"/>
                </a:solidFill>
                <a:latin typeface="Lato"/>
              </a:rPr>
              <a:t>Comparer l'attendu au réel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587752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5D6E86"/>
                </a:solidFill>
                <a:latin typeface="Lato"/>
              </a:rPr>
              <a:t>Un contrôle qualité sur un périmètre donné : on prépare un cas, on exécute, on vérifie le résultat.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00837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05A28"/>
                </a:solidFill>
                <a:latin typeface="DejaVu Sans Mono"/>
              </a:rPr>
              <a:t>Arrange  →  Act  →  Assert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38728"/>
            <a:ext cx="4892040" cy="1572768"/>
          </a:xfrm>
          <a:prstGeom prst="roundRect">
            <a:avLst>
              <a:gd name="adj" fmla="val 6000"/>
            </a:avLst>
          </a:prstGeom>
          <a:solidFill>
            <a:srgbClr val="EDF3FE"/>
          </a:solidFill>
          <a:ln w="15240">
            <a:solidFill>
              <a:srgbClr val="2F5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37033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200">
                <a:solidFill>
                  <a:srgbClr val="2F5BEA"/>
                </a:solidFill>
                <a:latin typeface="Lato"/>
              </a:rPr>
              <a:t>LE RAPPORT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5020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B33"/>
                </a:solidFill>
                <a:latin typeface="Lato"/>
              </a:rPr>
              <a:t>La preuve de l'exécution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4340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5D6E86"/>
                </a:solidFill>
                <a:latin typeface="Lato"/>
              </a:rPr>
              <a:t>Liste les tests lancés, leurs statuts, les erreurs, la durée et la couverture de code.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76402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F5BEA"/>
                </a:solidFill>
                <a:latin typeface="DejaVu Sans Mono"/>
              </a:rPr>
              <a:t>GO / NO-GO  →  décision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4892040" cy="960120"/>
          </a:xfrm>
          <a:prstGeom prst="roundRect">
            <a:avLst>
              <a:gd name="adj" fmla="val 5000"/>
            </a:avLst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7824" y="5440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200">
                <a:solidFill>
                  <a:srgbClr val="FFA37D"/>
                </a:solidFill>
                <a:latin typeface="Lato"/>
              </a:rPr>
              <a:t>VERDICT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6692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Lato"/>
              </a:rPr>
              <a:t>Tous verts </a:t>
            </a:r>
            <a:r>
              <a:rPr sz="960" b="0" i="0">
                <a:solidFill>
                  <a:srgbClr val="7EE2A8"/>
                </a:solidFill>
                <a:latin typeface="Lato"/>
              </a:rPr>
              <a:t>→ Release autorisée.</a:t>
            </a:r>
            <a:r>
              <a:rPr sz="960" b="1" i="0">
                <a:solidFill>
                  <a:srgbClr val="FFFFFF"/>
                </a:solidFill>
                <a:latin typeface="Lato"/>
              </a:rPr>
              <a:t>   Un échec </a:t>
            </a:r>
            <a:r>
              <a:rPr sz="960" b="0" i="0">
                <a:solidFill>
                  <a:srgbClr val="FFB4A8"/>
                </a:solidFill>
                <a:latin typeface="Lato"/>
              </a:rPr>
              <a:t>→ pipeline bloqué.</a:t>
            </a:r>
          </a:p>
        </p:txBody>
      </p:sp>
      <p:pic>
        <p:nvPicPr>
          <p:cNvPr id="24" name="Picture 23" descr="rapport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37360"/>
            <a:ext cx="5687568" cy="43003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06440" y="6089904"/>
            <a:ext cx="5687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D6E86"/>
                </a:solidFill>
                <a:latin typeface="Lato"/>
              </a:rPr>
              <a:t>Extrait de rapport · JUnit XML · HTML · JSON · couverture JaCoCo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PIPELINE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Où placer les tests dans le pipeline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Les tests unitaires précèdent le build ; intégration, E2E, charge et sécurité valident ensuite l'artefact et son environnement.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04 / 10</a:t>
            </a:r>
          </a:p>
        </p:txBody>
      </p:sp>
      <p:pic>
        <p:nvPicPr>
          <p:cNvPr id="11" name="Picture 10" descr="pipeline_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11365992" cy="36623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5614416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E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54864" cy="658368"/>
          </a:xfrm>
          <a:prstGeom prst="rect">
            <a:avLst/>
          </a:prstGeom>
          <a:solidFill>
            <a:srgbClr val="15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567842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9A55"/>
                </a:solidFill>
                <a:latin typeface="Lato"/>
              </a:rPr>
              <a:t>GO — tous les tests passent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91616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D6E86"/>
                </a:solidFill>
                <a:latin typeface="Lato"/>
              </a:rPr>
              <a:t>La Release est autorisée.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5614416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45352" y="5614416"/>
            <a:ext cx="54864" cy="658368"/>
          </a:xfrm>
          <a:prstGeom prst="rect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2" y="567842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2D20"/>
                </a:solidFill>
                <a:latin typeface="Lato"/>
              </a:rPr>
              <a:t>NO-GO — un seul test échoue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91616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D6E86"/>
                </a:solidFill>
                <a:latin typeface="Lato"/>
              </a:rPr>
              <a:t>Le pipeline est bloqué : retour au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STRATÉGIE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La pyramide des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Beaucoup de tests rapides à la base, peu de tests lents au sommet.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05 / 10</a:t>
            </a:r>
          </a:p>
        </p:txBody>
      </p:sp>
      <p:pic>
        <p:nvPicPr>
          <p:cNvPr id="11" name="Picture 10" descr="pyram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480560" cy="31835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5779008" cy="969264"/>
          </a:xfrm>
          <a:prstGeom prst="roundRect">
            <a:avLst>
              <a:gd name="adj" fmla="val 7000"/>
            </a:avLst>
          </a:prstGeom>
          <a:solidFill>
            <a:srgbClr val="E8F8F6"/>
          </a:solidFill>
          <a:ln w="12700"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742432" y="1783080"/>
            <a:ext cx="64008" cy="9692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0" y="1892807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160">
                <a:solidFill>
                  <a:srgbClr val="0E9F8E"/>
                </a:solidFill>
                <a:latin typeface="Lato"/>
              </a:rPr>
              <a:t>UNITAIRE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92807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D6E86"/>
                </a:solidFill>
                <a:latin typeface="Lato"/>
              </a:rPr>
              <a:t>≈ 70 % · rapides, isolés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12264"/>
            <a:ext cx="5394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11C2E"/>
                </a:solidFill>
                <a:latin typeface="Lato"/>
              </a:rPr>
              <a:t>Jasmine / Karma · JUnit 5 + Mockito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2316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0E9F8E"/>
                </a:solidFill>
                <a:latin typeface="DejaVu Sans Mono"/>
              </a:rPr>
              <a:t>ng test   ·   ./mvnw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2432" y="2898648"/>
            <a:ext cx="5779008" cy="969264"/>
          </a:xfrm>
          <a:prstGeom prst="roundRect">
            <a:avLst>
              <a:gd name="adj" fmla="val 7000"/>
            </a:avLst>
          </a:prstGeom>
          <a:solidFill>
            <a:srgbClr val="EDF3FE"/>
          </a:solidFill>
          <a:ln w="12700">
            <a:solidFill>
              <a:srgbClr val="2F5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742432" y="2898648"/>
            <a:ext cx="64008" cy="969264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0" y="300837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160">
                <a:solidFill>
                  <a:srgbClr val="2F5BEA"/>
                </a:solidFill>
                <a:latin typeface="Lato"/>
              </a:rPr>
              <a:t>INTÉGRATION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08376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D6E86"/>
                </a:solidFill>
                <a:latin typeface="Lato"/>
              </a:rPr>
              <a:t>≈ 20 % · composants assemblés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27832"/>
            <a:ext cx="5394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11C2E"/>
                </a:solidFill>
                <a:latin typeface="Lato"/>
              </a:rPr>
              <a:t>TestBed · MockMvc · Testcontainers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538728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2F5BEA"/>
                </a:solidFill>
                <a:latin typeface="DejaVu Sans Mono"/>
              </a:rPr>
              <a:t>ng test   ·   ./mvnw 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42432" y="4014215"/>
            <a:ext cx="5779008" cy="969264"/>
          </a:xfrm>
          <a:prstGeom prst="roundRect">
            <a:avLst>
              <a:gd name="adj" fmla="val 7000"/>
            </a:avLst>
          </a:prstGeom>
          <a:solidFill>
            <a:srgbClr val="FFF3EC"/>
          </a:solidFill>
          <a:ln w="12700">
            <a:solidFill>
              <a:srgbClr val="F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742432" y="4014215"/>
            <a:ext cx="64008" cy="969264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0" y="41239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160">
                <a:solidFill>
                  <a:srgbClr val="F05A28"/>
                </a:solidFill>
                <a:latin typeface="Lato"/>
              </a:rPr>
              <a:t>E2E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12394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D6E86"/>
                </a:solidFill>
                <a:latin typeface="Lato"/>
              </a:rPr>
              <a:t>≈ 10 % · parcours critiques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43400"/>
            <a:ext cx="5394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11C2E"/>
                </a:solidFill>
                <a:latin typeface="Lato"/>
              </a:rPr>
              <a:t>Cypress · Playwright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654296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05A28"/>
                </a:solidFill>
                <a:latin typeface="DejaVu Sans Mono"/>
              </a:rPr>
              <a:t>npx cypress 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38928"/>
            <a:ext cx="10911535" cy="1115568"/>
          </a:xfrm>
          <a:prstGeom prst="roundRect">
            <a:avLst>
              <a:gd name="adj" fmla="val 5000"/>
            </a:avLst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528523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200">
                <a:solidFill>
                  <a:srgbClr val="FFA37D"/>
                </a:solidFill>
                <a:latin typeface="Lato"/>
              </a:rPr>
              <a:t>RÉGRESSION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046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Lato"/>
              </a:rPr>
              <a:t>Rejouer les tests existants à chaque changement.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33872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B9CBE3"/>
                </a:solidFill>
                <a:latin typeface="Lato"/>
              </a:rPr>
              <a:t>C'est le filet de sécurité du pipeline : une fonctionnalité qui marchait ne doit pas casser.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TESTS FONCTIONNELS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Unitaire et intégration : isoler, puis assembler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Deux niveaux, deux commandes : ng test et ./mvnw verify.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5285232" cy="594360"/>
          </a:xfrm>
          <a:prstGeom prst="roundRect">
            <a:avLst>
              <a:gd name="adj" fmla="val 7000"/>
            </a:avLst>
          </a:prstGeom>
          <a:solidFill>
            <a:srgbClr val="E8F8F6"/>
          </a:solidFill>
          <a:ln w="12700"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54864" cy="59436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184708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150">
                <a:solidFill>
                  <a:srgbClr val="0E9F8E"/>
                </a:solidFill>
                <a:latin typeface="Lato"/>
              </a:rPr>
              <a:t>UNITAIRE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8288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0E9F8E"/>
                </a:solidFill>
                <a:latin typeface="DejaVu Sans Mono"/>
              </a:rPr>
              <a:t>ng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470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D6E86"/>
                </a:solidFill>
                <a:latin typeface="Lato"/>
              </a:rPr>
              <a:t>unité isolée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37360"/>
            <a:ext cx="5285232" cy="594360"/>
          </a:xfrm>
          <a:prstGeom prst="roundRect">
            <a:avLst>
              <a:gd name="adj" fmla="val 7000"/>
            </a:avLst>
          </a:prstGeom>
          <a:solidFill>
            <a:srgbClr val="EDF3FE"/>
          </a:solidFill>
          <a:ln w="12700">
            <a:solidFill>
              <a:srgbClr val="2F5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54864" cy="59436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46520" y="184708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 spc="150">
                <a:solidFill>
                  <a:srgbClr val="2F5BEA"/>
                </a:solidFill>
                <a:latin typeface="Lato"/>
              </a:rPr>
              <a:t>INTÉGRATION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18288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2F5BEA"/>
                </a:solidFill>
                <a:latin typeface="DejaVu Sans Mono"/>
              </a:rPr>
              <a:t>./mvnw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470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D6E86"/>
                </a:solidFill>
                <a:latin typeface="Lato"/>
              </a:rPr>
              <a:t>couches réelles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14600"/>
            <a:ext cx="5321808" cy="3143250"/>
          </a:xfrm>
          <a:prstGeom prst="roundRect">
            <a:avLst>
              <a:gd name="adj" fmla="val 4000"/>
            </a:avLst>
          </a:prstGeom>
          <a:solidFill>
            <a:srgbClr val="0D1B2E"/>
          </a:solidFill>
          <a:ln w="11430">
            <a:solidFill>
              <a:srgbClr val="23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0080" y="2514600"/>
            <a:ext cx="5321808" cy="310896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" y="2770632"/>
            <a:ext cx="5321808" cy="54864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68096" y="26380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05256" y="26380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042415" y="26380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7" y="2587752"/>
            <a:ext cx="3630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DB2CE"/>
                </a:solidFill>
                <a:latin typeface="DejaVu Sans Mono"/>
              </a:rPr>
              <a:t>auth.service.spec.ts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2564892"/>
            <a:ext cx="987552" cy="210312"/>
          </a:xfrm>
          <a:prstGeom prst="roundRect">
            <a:avLst>
              <a:gd name="adj" fmla="val 50000"/>
            </a:avLst>
          </a:prstGeom>
          <a:solidFill>
            <a:srgbClr val="1A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46320" y="257403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0E9F8E"/>
                </a:solidFill>
                <a:latin typeface="DejaVu Sans Mono"/>
              </a:rPr>
              <a:t>ng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2862072"/>
            <a:ext cx="5065776" cy="28323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1 </a:t>
            </a:r>
            <a:r>
              <a:rPr sz="780" b="0">
                <a:solidFill>
                  <a:srgbClr val="6F86A6"/>
                </a:solidFill>
                <a:latin typeface="DejaVu Sans Mono"/>
              </a:rPr>
              <a:t>// auth.service.spec.ts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2 </a:t>
            </a:r>
            <a:r>
              <a:rPr sz="780" b="0">
                <a:solidFill>
                  <a:srgbClr val="C792EA"/>
                </a:solidFill>
                <a:latin typeface="DejaVu Sans Mono"/>
              </a:rPr>
              <a:t>describe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80" b="0">
                <a:solidFill>
                  <a:srgbClr val="A5E075"/>
                </a:solidFill>
                <a:latin typeface="DejaVu Sans Mono"/>
              </a:rPr>
              <a:t>'AuthService'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, () =&gt; {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3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80" b="0">
                <a:solidFill>
                  <a:srgbClr val="C792EA"/>
                </a:solidFill>
                <a:latin typeface="DejaVu Sans Mono"/>
              </a:rPr>
              <a:t>let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service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780" b="0">
                <a:solidFill>
                  <a:srgbClr val="82AAFF"/>
                </a:solidFill>
                <a:latin typeface="DejaVu Sans Mono"/>
              </a:rPr>
              <a:t>AuthService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4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80" b="0">
                <a:solidFill>
                  <a:srgbClr val="C792EA"/>
                </a:solidFill>
                <a:latin typeface="DejaVu Sans Mono"/>
              </a:rPr>
              <a:t>let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http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780" b="0">
                <a:solidFill>
                  <a:srgbClr val="82AAFF"/>
                </a:solidFill>
                <a:latin typeface="DejaVu Sans Mono"/>
              </a:rPr>
              <a:t>HttpTestingController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5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80" b="0">
                <a:solidFill>
                  <a:srgbClr val="C792EA"/>
                </a:solidFill>
                <a:latin typeface="DejaVu Sans Mono"/>
              </a:rPr>
              <a:t>beforeEach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(() =&gt; {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6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780" b="0">
                <a:solidFill>
                  <a:srgbClr val="82AAFF"/>
                </a:solidFill>
                <a:latin typeface="DejaVu Sans Mono"/>
              </a:rPr>
              <a:t>TestBed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configureTestingModule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({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7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 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providers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: [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provideHttpClient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(),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8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   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provideHttpClientTesting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()],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 9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});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10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service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= </a:t>
            </a:r>
            <a:r>
              <a:rPr sz="780" b="0">
                <a:solidFill>
                  <a:srgbClr val="82AAFF"/>
                </a:solidFill>
                <a:latin typeface="DejaVu Sans Mono"/>
              </a:rPr>
              <a:t>TestBed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inject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80" b="0">
                <a:solidFill>
                  <a:srgbClr val="82AAFF"/>
                </a:solidFill>
                <a:latin typeface="DejaVu Sans Mono"/>
              </a:rPr>
              <a:t>AuthService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11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http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= </a:t>
            </a:r>
            <a:r>
              <a:rPr sz="780" b="0">
                <a:solidFill>
                  <a:srgbClr val="82AAFF"/>
                </a:solidFill>
                <a:latin typeface="DejaVu Sans Mono"/>
              </a:rPr>
              <a:t>TestBed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inject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80" b="0">
                <a:solidFill>
                  <a:srgbClr val="82AAFF"/>
                </a:solidFill>
                <a:latin typeface="DejaVu Sans Mono"/>
              </a:rPr>
              <a:t>HttpTestingController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12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});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13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80" b="0">
                <a:solidFill>
                  <a:srgbClr val="C792EA"/>
                </a:solidFill>
                <a:latin typeface="DejaVu Sans Mono"/>
              </a:rPr>
              <a:t>it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80" b="0">
                <a:solidFill>
                  <a:srgbClr val="A5E075"/>
                </a:solidFill>
                <a:latin typeface="DejaVu Sans Mono"/>
              </a:rPr>
              <a:t>'stocke le jeton'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, () =&gt; {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14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service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login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({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email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780" b="0">
                <a:solidFill>
                  <a:srgbClr val="A5E075"/>
                </a:solidFill>
                <a:latin typeface="DejaVu Sans Mono"/>
              </a:rPr>
              <a:t>'ada@exemple.fr'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,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15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 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password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780" b="0">
                <a:solidFill>
                  <a:srgbClr val="A5E075"/>
                </a:solidFill>
                <a:latin typeface="DejaVu Sans Mono"/>
              </a:rPr>
              <a:t>'secret'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}).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subscribe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((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r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) =&gt; {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16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  </a:t>
            </a:r>
            <a:r>
              <a:rPr sz="780" b="0">
                <a:solidFill>
                  <a:srgbClr val="C792EA"/>
                </a:solidFill>
                <a:latin typeface="DejaVu Sans Mono"/>
              </a:rPr>
              <a:t>expect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r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token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).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toBe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80" b="0">
                <a:solidFill>
                  <a:srgbClr val="A5E075"/>
                </a:solidFill>
                <a:latin typeface="DejaVu Sans Mono"/>
              </a:rPr>
              <a:t>'jwt-123'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17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});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18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http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expectOne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80" b="0">
                <a:solidFill>
                  <a:srgbClr val="A5E075"/>
                </a:solidFill>
                <a:latin typeface="DejaVu Sans Mono"/>
              </a:rPr>
              <a:t>'/api/auth/login'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)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19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    .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flush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({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token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780" b="0">
                <a:solidFill>
                  <a:srgbClr val="A5E075"/>
                </a:solidFill>
                <a:latin typeface="DejaVu Sans Mono"/>
              </a:rPr>
              <a:t>'jwt-123'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});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20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  });</a:t>
            </a:r>
          </a:p>
          <a:p>
            <a:pPr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40577A"/>
                </a:solidFill>
                <a:latin typeface="DejaVu Sans Mono"/>
              </a:rPr>
              <a:t>21 </a:t>
            </a:r>
            <a:r>
              <a:rPr sz="780" b="0">
                <a:solidFill>
                  <a:srgbClr val="D7E3F4"/>
                </a:solidFill>
                <a:latin typeface="DejaVu Sans Mono"/>
              </a:rPr>
              <a:t>});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2514600"/>
            <a:ext cx="5312664" cy="3248914"/>
          </a:xfrm>
          <a:prstGeom prst="roundRect">
            <a:avLst>
              <a:gd name="adj" fmla="val 4000"/>
            </a:avLst>
          </a:prstGeom>
          <a:solidFill>
            <a:srgbClr val="0D1B2E"/>
          </a:solidFill>
          <a:ln w="11430">
            <a:solidFill>
              <a:srgbClr val="23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236208" y="2514600"/>
            <a:ext cx="5312664" cy="310896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236208" y="2770632"/>
            <a:ext cx="5312664" cy="54864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364224" y="26380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501384" y="26380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638544" y="26380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03136" y="2587752"/>
            <a:ext cx="36210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DB2CE"/>
                </a:solidFill>
                <a:latin typeface="DejaVu Sans Mono"/>
              </a:rPr>
              <a:t>AuthControllerIT.java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33303" y="2564892"/>
            <a:ext cx="987552" cy="210312"/>
          </a:xfrm>
          <a:prstGeom prst="roundRect">
            <a:avLst>
              <a:gd name="adj" fmla="val 50000"/>
            </a:avLst>
          </a:prstGeom>
          <a:solidFill>
            <a:srgbClr val="1A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3303" y="257403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2F5BEA"/>
                </a:solidFill>
                <a:latin typeface="DejaVu Sans Mono"/>
              </a:rPr>
              <a:t>./mvnw 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2862072"/>
            <a:ext cx="5056631" cy="29380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1 </a:t>
            </a:r>
            <a:r>
              <a:rPr sz="740" b="0">
                <a:solidFill>
                  <a:srgbClr val="6F86A6"/>
                </a:solidFill>
                <a:latin typeface="DejaVu Sans Mono"/>
              </a:rPr>
              <a:t>// AuthControllerIT.java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2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@SpringBootTest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3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@AutoConfigureMockMvc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4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@ActiveProfiles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"test"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)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5 </a:t>
            </a:r>
            <a:r>
              <a:rPr sz="740" b="0">
                <a:solidFill>
                  <a:srgbClr val="C792EA"/>
                </a:solidFill>
                <a:latin typeface="DejaVu Sans Mono"/>
              </a:rPr>
              <a:t>class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82AAFF"/>
                </a:solidFill>
                <a:latin typeface="DejaVu Sans Mono"/>
              </a:rPr>
              <a:t>AuthControllerIT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{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6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@Autowired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82AAFF"/>
                </a:solidFill>
                <a:latin typeface="DejaVu Sans Mono"/>
              </a:rPr>
              <a:t>MockMvc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mvc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;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7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@Autowired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82AAFF"/>
                </a:solidFill>
                <a:latin typeface="DejaVu Sans Mono"/>
              </a:rPr>
              <a:t>UserRepository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users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;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8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@Autowired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82AAFF"/>
                </a:solidFill>
                <a:latin typeface="DejaVu Sans Mono"/>
              </a:rPr>
              <a:t>PasswordEncoder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encoder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;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 9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@BeforeEach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10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40" b="0">
                <a:solidFill>
                  <a:srgbClr val="C792EA"/>
                </a:solidFill>
                <a:latin typeface="DejaVu Sans Mono"/>
              </a:rPr>
              <a:t>void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setUp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() {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11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users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save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C792EA"/>
                </a:solidFill>
                <a:latin typeface="DejaVu Sans Mono"/>
              </a:rPr>
              <a:t>new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82AAFF"/>
                </a:solidFill>
                <a:latin typeface="DejaVu Sans Mono"/>
              </a:rPr>
              <a:t>User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"ada@exemple.fr"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,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12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 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encoder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encode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"secret"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)));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13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}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14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40" b="0">
                <a:solidFill>
                  <a:srgbClr val="FFCB6B"/>
                </a:solidFill>
                <a:latin typeface="DejaVu Sans Mono"/>
              </a:rPr>
              <a:t>@Test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15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740" b="0">
                <a:solidFill>
                  <a:srgbClr val="C792EA"/>
                </a:solidFill>
                <a:latin typeface="DejaVu Sans Mono"/>
              </a:rPr>
              <a:t>void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login_valide_retourne200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() </a:t>
            </a:r>
            <a:r>
              <a:rPr sz="740" b="0">
                <a:solidFill>
                  <a:srgbClr val="C792EA"/>
                </a:solidFill>
                <a:latin typeface="DejaVu Sans Mono"/>
              </a:rPr>
              <a:t>throws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740" b="0">
                <a:solidFill>
                  <a:srgbClr val="82AAFF"/>
                </a:solidFill>
                <a:latin typeface="DejaVu Sans Mono"/>
              </a:rPr>
              <a:t>Exception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{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16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mvc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perform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post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"/api/auth/login"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)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17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    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contentType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82AAFF"/>
                </a:solidFill>
                <a:latin typeface="DejaVu Sans Mono"/>
              </a:rPr>
              <a:t>APPLICATION_JSON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)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18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    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content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"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19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      {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"email"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: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"ada@exemple.fr"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,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"password"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: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"secret"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}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"))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20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  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andExpect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status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().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isOk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())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21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    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andExpect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jsonPath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740" b="0">
                <a:solidFill>
                  <a:srgbClr val="A5E075"/>
                </a:solidFill>
                <a:latin typeface="DejaVu Sans Mono"/>
              </a:rPr>
              <a:t>"$.token"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).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isNotEmpty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());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22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  }</a:t>
            </a:r>
          </a:p>
          <a:p>
            <a:p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>
                <a:solidFill>
                  <a:srgbClr val="40577A"/>
                </a:solidFill>
                <a:latin typeface="DejaVu Sans Mono"/>
              </a:rPr>
              <a:t>23 </a:t>
            </a:r>
            <a:r>
              <a:rPr sz="740" b="0">
                <a:solidFill>
                  <a:srgbClr val="D7E3F4"/>
                </a:solidFill>
                <a:latin typeface="DejaVu Sans Mono"/>
              </a:rPr>
              <a:t>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5D6E86"/>
                </a:solidFill>
                <a:latin typeface="Lato"/>
              </a:rPr>
              <a:t>Unitaire = la logique seule. Intégration = contrôleur + service +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TESTS FONCTIONNELS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End-to-end et régression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L'E2E simule un utilisateur réel ; la régression rejoue l'existant.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5623560" cy="2605024"/>
          </a:xfrm>
          <a:prstGeom prst="roundRect">
            <a:avLst>
              <a:gd name="adj" fmla="val 4000"/>
            </a:avLst>
          </a:prstGeom>
          <a:solidFill>
            <a:srgbClr val="0D1B2E"/>
          </a:solidFill>
          <a:ln w="11430">
            <a:solidFill>
              <a:srgbClr val="23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5623560" cy="310896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039112"/>
            <a:ext cx="5623560" cy="54864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68096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05256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42415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7" y="185623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DB2CE"/>
                </a:solidFill>
                <a:latin typeface="DejaVu Sans Mono"/>
              </a:rPr>
              <a:t>login.cy.ts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8072" y="1833372"/>
            <a:ext cx="987552" cy="210312"/>
          </a:xfrm>
          <a:prstGeom prst="roundRect">
            <a:avLst>
              <a:gd name="adj" fmla="val 50000"/>
            </a:avLst>
          </a:prstGeom>
          <a:solidFill>
            <a:srgbClr val="1A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48072" y="1842515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05A28"/>
                </a:solidFill>
                <a:latin typeface="DejaVu Sans Mono"/>
              </a:rPr>
              <a:t>npx cypress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130552"/>
            <a:ext cx="5367528" cy="22941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1 </a:t>
            </a:r>
            <a:r>
              <a:rPr sz="819" b="0">
                <a:solidFill>
                  <a:srgbClr val="6F86A6"/>
                </a:solidFill>
                <a:latin typeface="DejaVu Sans Mono"/>
              </a:rPr>
              <a:t>// cypress/e2e/login.cy.ts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2 </a:t>
            </a:r>
            <a:r>
              <a:rPr sz="819" b="0">
                <a:solidFill>
                  <a:srgbClr val="C792EA"/>
                </a:solidFill>
                <a:latin typeface="DejaVu Sans Mono"/>
              </a:rPr>
              <a:t>describe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'Connexion'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, () =&gt; {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3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19" b="0">
                <a:solidFill>
                  <a:srgbClr val="C792EA"/>
                </a:solidFill>
                <a:latin typeface="DejaVu Sans Mono"/>
              </a:rPr>
              <a:t>it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'redirige vers le dashboard'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, () =&gt; {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4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intercept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'POST'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, 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'/api/auth/login'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, {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5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statusCode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819" b="0">
                <a:solidFill>
                  <a:srgbClr val="F78C6C"/>
                </a:solidFill>
                <a:latin typeface="DejaVu Sans Mono"/>
              </a:rPr>
              <a:t>200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,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6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body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: {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token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'jwt-123'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},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7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}).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as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'login'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8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visit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'/login'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 9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get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'[data-cy=email]'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10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  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type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'ada@exemple.fr'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11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get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'[data-cy=password]'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type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'secret'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12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get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'[data-cy=submit]'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click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13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wait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'@login'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14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cy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url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().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should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'include'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, </a:t>
            </a:r>
            <a:r>
              <a:rPr sz="819" b="0">
                <a:solidFill>
                  <a:srgbClr val="A5E075"/>
                </a:solidFill>
                <a:latin typeface="DejaVu Sans Mono"/>
              </a:rPr>
              <a:t>'/dashboard'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15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  });</a:t>
            </a:r>
          </a:p>
          <a:p>
            <a:pPr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0577A"/>
                </a:solidFill>
                <a:latin typeface="DejaVu Sans Mono"/>
              </a:rPr>
              <a:t>16 </a:t>
            </a:r>
            <a:r>
              <a:rPr sz="819" b="0">
                <a:solidFill>
                  <a:srgbClr val="D7E3F4"/>
                </a:solidFill>
                <a:latin typeface="DejaVu Sans Mono"/>
              </a:rPr>
              <a:t>});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83080"/>
            <a:ext cx="5148072" cy="1548384"/>
          </a:xfrm>
          <a:prstGeom prst="roundRect">
            <a:avLst>
              <a:gd name="adj" fmla="val 4000"/>
            </a:avLst>
          </a:prstGeom>
          <a:solidFill>
            <a:srgbClr val="0D1B2E"/>
          </a:solidFill>
          <a:ln w="11430">
            <a:solidFill>
              <a:srgbClr val="23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00800" y="1783080"/>
            <a:ext cx="5148072" cy="310896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0" y="2039112"/>
            <a:ext cx="5148072" cy="54864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528816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665976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803136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67728" y="1856231"/>
            <a:ext cx="3456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DB2CE"/>
                </a:solidFill>
                <a:latin typeface="DejaVu Sans Mono"/>
              </a:rPr>
              <a:t>login.feature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3303" y="1833372"/>
            <a:ext cx="987552" cy="210312"/>
          </a:xfrm>
          <a:prstGeom prst="roundRect">
            <a:avLst>
              <a:gd name="adj" fmla="val 50000"/>
            </a:avLst>
          </a:prstGeom>
          <a:solidFill>
            <a:srgbClr val="1A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433303" y="1842515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05A28"/>
                </a:solidFill>
                <a:latin typeface="DejaVu Sans Mono"/>
              </a:rPr>
              <a:t>Gherkin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2130552"/>
            <a:ext cx="4892040" cy="1237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1 </a:t>
            </a:r>
            <a:r>
              <a:rPr sz="840" b="0">
                <a:solidFill>
                  <a:srgbClr val="6F86A6"/>
                </a:solidFill>
                <a:latin typeface="DejaVu Sans Mono"/>
              </a:rPr>
              <a:t># features/login.feature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2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Fonctionnalité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: </a:t>
            </a:r>
            <a:r>
              <a:rPr sz="840" b="0">
                <a:solidFill>
                  <a:srgbClr val="82AAFF"/>
                </a:solidFill>
                <a:latin typeface="DejaVu Sans Mono"/>
              </a:rPr>
              <a:t>Connexion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3 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4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Scénario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: </a:t>
            </a:r>
            <a:r>
              <a:rPr sz="840" b="0">
                <a:solidFill>
                  <a:srgbClr val="82AAFF"/>
                </a:solidFill>
                <a:latin typeface="DejaVu Sans Mono"/>
              </a:rPr>
              <a:t>Identifiants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valides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5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Étant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donné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un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utilisateur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inscrit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6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Quand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il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soumet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le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formulaire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7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Alors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il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est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redirigé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vers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A5E075"/>
                </a:solidFill>
                <a:latin typeface="DejaVu Sans Mono"/>
              </a:rPr>
              <a:t>"/dashboard"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8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Et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un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jeton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82AAFF"/>
                </a:solidFill>
                <a:latin typeface="DejaVu Sans Mono"/>
              </a:rPr>
              <a:t>JWT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est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stocké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520440"/>
            <a:ext cx="51480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47104" y="363016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 spc="100">
                <a:solidFill>
                  <a:srgbClr val="F05A28"/>
                </a:solidFill>
                <a:latin typeface="Lato"/>
              </a:rPr>
              <a:t>SCÉNARIO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611880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0B1B33"/>
                </a:solidFill>
                <a:latin typeface="Lato"/>
              </a:rPr>
              <a:t>1 comportement observable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959352"/>
            <a:ext cx="51480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47104" y="40690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 spc="100">
                <a:solidFill>
                  <a:srgbClr val="2F5BEA"/>
                </a:solidFill>
                <a:latin typeface="Lato"/>
              </a:rPr>
              <a:t>IMPLÉMENTATION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050791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0B1B33"/>
                </a:solidFill>
                <a:latin typeface="Lato"/>
              </a:rPr>
              <a:t>MockMvc + Cypress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398264"/>
            <a:ext cx="51480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47104" y="450799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 spc="100">
                <a:solidFill>
                  <a:srgbClr val="159A55"/>
                </a:solidFill>
                <a:latin typeface="Lato"/>
              </a:rPr>
              <a:t>PREUVE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48970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0B1B33"/>
                </a:solidFill>
                <a:latin typeface="Lato"/>
              </a:rPr>
              <a:t>Surefire XML + HTML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37760"/>
            <a:ext cx="10911535" cy="1234440"/>
          </a:xfrm>
          <a:prstGeom prst="roundRect">
            <a:avLst>
              <a:gd name="adj" fmla="val 5000"/>
            </a:avLst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60119" y="508406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200">
                <a:solidFill>
                  <a:srgbClr val="FFA37D"/>
                </a:solidFill>
                <a:latin typeface="Lato"/>
              </a:rPr>
              <a:t>RÉGRESSION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19" y="532180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Lato"/>
              </a:rPr>
              <a:t>Rejouer toute la suite à chaque changement.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19" y="57058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9CBE3"/>
                </a:solidFill>
                <a:latin typeface="Lato"/>
              </a:rPr>
              <a:t>C'est le filet de sécurité : une fonctionnalité qui marchait ne doit pas casser.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TESTS NON-FONCTIONNELS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Performance, charge et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Ces tests mesurent le « comment », pas seulement le « quoi ».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08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5806440" cy="2684272"/>
          </a:xfrm>
          <a:prstGeom prst="roundRect">
            <a:avLst>
              <a:gd name="adj" fmla="val 4000"/>
            </a:avLst>
          </a:prstGeom>
          <a:solidFill>
            <a:srgbClr val="0D1B2E"/>
          </a:solidFill>
          <a:ln w="11430">
            <a:solidFill>
              <a:srgbClr val="23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5806440" cy="310896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039112"/>
            <a:ext cx="5806440" cy="54864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68096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05256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42415" y="19065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7" y="1856231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DB2CE"/>
                </a:solidFill>
                <a:latin typeface="DejaVu Sans Mono"/>
              </a:rPr>
              <a:t>login-load-test.js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0952" y="1833372"/>
            <a:ext cx="987552" cy="210312"/>
          </a:xfrm>
          <a:prstGeom prst="roundRect">
            <a:avLst>
              <a:gd name="adj" fmla="val 50000"/>
            </a:avLst>
          </a:prstGeom>
          <a:solidFill>
            <a:srgbClr val="1A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30952" y="1842515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0E9F8E"/>
                </a:solidFill>
                <a:latin typeface="DejaVu Sans Mono"/>
              </a:rPr>
              <a:t>k6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130552"/>
            <a:ext cx="5550407" cy="23733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1 </a:t>
            </a:r>
            <a:r>
              <a:rPr sz="800" b="0">
                <a:solidFill>
                  <a:srgbClr val="6F86A6"/>
                </a:solidFill>
                <a:latin typeface="DejaVu Sans Mono"/>
              </a:rPr>
              <a:t>// k6/login-load-test.js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2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import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http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from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'k6/http'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;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3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import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{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check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}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from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'k6'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;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4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export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const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options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= {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5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vus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800" b="0">
                <a:solidFill>
                  <a:srgbClr val="F78C6C"/>
                </a:solidFill>
                <a:latin typeface="DejaVu Sans Mono"/>
              </a:rPr>
              <a:t>50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,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duration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'1m'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,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6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thresholds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{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7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http_req_duration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[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'p(95)&lt;500'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],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8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http_req_failed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[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'rate&lt;0.01'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],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 9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},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10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};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11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export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default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function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() {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12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00" b="0">
                <a:solidFill>
                  <a:srgbClr val="C792EA"/>
                </a:solidFill>
                <a:latin typeface="DejaVu Sans Mono"/>
              </a:rPr>
              <a:t>const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res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=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http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post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(`${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__ENV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00" b="0">
                <a:solidFill>
                  <a:srgbClr val="82AAFF"/>
                </a:solidFill>
                <a:latin typeface="DejaVu Sans Mono"/>
              </a:rPr>
              <a:t>API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}/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auth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/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login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`,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13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  </a:t>
            </a:r>
            <a:r>
              <a:rPr sz="800" b="0">
                <a:solidFill>
                  <a:srgbClr val="82AAFF"/>
                </a:solidFill>
                <a:latin typeface="DejaVu Sans Mono"/>
              </a:rPr>
              <a:t>JSON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stringify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({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email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'ada@exemple.fr'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,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14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   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password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'secret'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}),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15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  {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headers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{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'Content-Type'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'application/json'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} });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16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check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(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res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, { </a:t>
            </a:r>
            <a:r>
              <a:rPr sz="800" b="0">
                <a:solidFill>
                  <a:srgbClr val="A5E075"/>
                </a:solidFill>
                <a:latin typeface="DejaVu Sans Mono"/>
              </a:rPr>
              <a:t>'HTTP 200'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: (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r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) =&gt;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r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.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status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=== </a:t>
            </a:r>
            <a:r>
              <a:rPr sz="800" b="0">
                <a:solidFill>
                  <a:srgbClr val="F78C6C"/>
                </a:solidFill>
                <a:latin typeface="DejaVu Sans Mono"/>
              </a:rPr>
              <a:t>200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 });</a:t>
            </a:r>
          </a:p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0577A"/>
                </a:solidFill>
                <a:latin typeface="DejaVu Sans Mono"/>
              </a:rPr>
              <a:t>17 </a:t>
            </a:r>
            <a:r>
              <a:rPr sz="800" b="0">
                <a:solidFill>
                  <a:srgbClr val="D7E3F4"/>
                </a:solidFill>
                <a:latin typeface="DejaVu Sans Mono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92040"/>
            <a:ext cx="1810512" cy="74980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49834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33"/>
                </a:solidFill>
                <a:latin typeface="Lato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8523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D6E86"/>
                </a:solidFill>
                <a:latin typeface="Lato"/>
              </a:rPr>
              <a:t>utilisateurs virtuels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78608" y="4892040"/>
            <a:ext cx="1810512" cy="74980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706624" y="49834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33"/>
                </a:solidFill>
                <a:latin typeface="Lato"/>
              </a:rPr>
              <a:t>p95 &lt; 500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624" y="528523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D6E86"/>
                </a:solidFill>
                <a:latin typeface="Lato"/>
              </a:rPr>
              <a:t>temps de réponse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17136" y="4892040"/>
            <a:ext cx="1810512" cy="74980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45152" y="49834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33"/>
                </a:solidFill>
                <a:latin typeface="Lato"/>
              </a:rPr>
              <a:t>&lt; 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28523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D6E86"/>
                </a:solidFill>
                <a:latin typeface="Lato"/>
              </a:rPr>
              <a:t>taux d'erreur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783080"/>
            <a:ext cx="4873752" cy="1737360"/>
          </a:xfrm>
          <a:prstGeom prst="roundRect">
            <a:avLst>
              <a:gd name="adj" fmla="val 6000"/>
            </a:avLst>
          </a:prstGeom>
          <a:solidFill>
            <a:srgbClr val="EDF3FE"/>
          </a:solidFill>
          <a:ln w="12700">
            <a:solidFill>
              <a:srgbClr val="2F5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6288" y="193852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180">
                <a:solidFill>
                  <a:srgbClr val="2F5BEA"/>
                </a:solidFill>
                <a:latin typeface="Lato"/>
              </a:rPr>
              <a:t>PERFORMANCE / CHARGE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7627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6E86"/>
                </a:solidFill>
                <a:latin typeface="Lato"/>
              </a:rPr>
              <a:t>Temps de réponse, débit, résistance sous charge.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269748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11C2E"/>
                </a:solidFill>
                <a:latin typeface="Lato"/>
              </a:rPr>
              <a:t>JMeter · Gatling · k6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06324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2F5BEA"/>
                </a:solidFill>
                <a:latin typeface="DejaVu Sans Mono"/>
              </a:rPr>
              <a:t>Rapport : dashboard HTML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3703320"/>
            <a:ext cx="4873752" cy="1783080"/>
          </a:xfrm>
          <a:prstGeom prst="roundRect">
            <a:avLst>
              <a:gd name="adj" fmla="val 6000"/>
            </a:avLst>
          </a:prstGeom>
          <a:solidFill>
            <a:srgbClr val="FEF3F2"/>
          </a:solidFill>
          <a:ln w="12700">
            <a:solidFill>
              <a:srgbClr val="D92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76288" y="385876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180">
                <a:solidFill>
                  <a:srgbClr val="D92D20"/>
                </a:solidFill>
                <a:latin typeface="Lato"/>
              </a:rPr>
              <a:t>SÉCURITÉ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409651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6E86"/>
                </a:solidFill>
                <a:latin typeface="Lato"/>
              </a:rPr>
              <a:t>Dépendances vulnérables, en-têtes, OWASP Top 10.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617720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11C2E"/>
                </a:solidFill>
                <a:latin typeface="DejaVu Sans Mono"/>
              </a:rPr>
              <a:t>npm audit --audit-level=high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864608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11C2E"/>
                </a:solidFill>
                <a:latin typeface="DejaVu Sans Mono"/>
              </a:rPr>
              <a:t>zap-baseline.py -t https://…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51480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D92D20"/>
                </a:solidFill>
                <a:latin typeface="DejaVu Sans Mono"/>
              </a:rPr>
              <a:t>Rapport : HTML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9788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1">
                <a:solidFill>
                  <a:srgbClr val="5D6E86"/>
                </a:solidFill>
                <a:latin typeface="Lato"/>
              </a:rPr>
              <a:t>Seuils explicites : la CI transforme une mesure en décision GO / NO-GO.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CAS CONCRET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De la user story au rapport d'échec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La story décrit le besoin ; le Gherkin le rend exécutable ; le rapport juge.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09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3EC"/>
          </a:solidFill>
          <a:ln w="16510">
            <a:solidFill>
              <a:srgbClr val="F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19202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 spc="180">
                <a:solidFill>
                  <a:srgbClr val="F05A28"/>
                </a:solidFill>
                <a:latin typeface="Lato"/>
              </a:rPr>
              <a:t>US-12 · SE CONNECTER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7627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1B33"/>
                </a:solidFill>
                <a:latin typeface="Lato"/>
              </a:rPr>
              <a:t>« En tant qu'utilisateur non authentifié, je veux me connecter afin d'accéder à mon tableau de bord.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83464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3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28437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8A4B32"/>
                </a:solidFill>
                <a:latin typeface="Lato"/>
              </a:rPr>
              <a:t>Compte existant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7832" y="283464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3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227832" y="28437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8A4B32"/>
                </a:solidFill>
                <a:latin typeface="Lato"/>
              </a:rPr>
              <a:t>Redirection /dashboard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5074920" cy="1271016"/>
          </a:xfrm>
          <a:prstGeom prst="roundRect">
            <a:avLst>
              <a:gd name="adj" fmla="val 4000"/>
            </a:avLst>
          </a:prstGeom>
          <a:solidFill>
            <a:srgbClr val="0D1B2E"/>
          </a:solidFill>
          <a:ln w="11430">
            <a:solidFill>
              <a:srgbClr val="23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5074920" cy="310896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40080" y="3639312"/>
            <a:ext cx="5074920" cy="54864"/>
          </a:xfrm>
          <a:prstGeom prst="rect">
            <a:avLst/>
          </a:prstGeom>
          <a:solidFill>
            <a:srgbClr val="14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68096" y="35067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05256" y="35067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042415" y="3506724"/>
            <a:ext cx="68580" cy="6858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7" y="3456432"/>
            <a:ext cx="3383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DB2CE"/>
                </a:solidFill>
                <a:latin typeface="DejaVu Sans Mono"/>
              </a:rPr>
              <a:t>login.feature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9432" y="3433572"/>
            <a:ext cx="987552" cy="210312"/>
          </a:xfrm>
          <a:prstGeom prst="roundRect">
            <a:avLst>
              <a:gd name="adj" fmla="val 50000"/>
            </a:avLst>
          </a:prstGeom>
          <a:solidFill>
            <a:srgbClr val="1A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99432" y="344271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05A28"/>
                </a:solidFill>
                <a:latin typeface="DejaVu Sans Mono"/>
              </a:rPr>
              <a:t>Gherkin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730752"/>
            <a:ext cx="4818888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1 </a:t>
            </a:r>
            <a:r>
              <a:rPr sz="840" b="0">
                <a:solidFill>
                  <a:srgbClr val="6F86A6"/>
                </a:solidFill>
                <a:latin typeface="DejaVu Sans Mono"/>
              </a:rPr>
              <a:t># features/login.feature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2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Scénario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: </a:t>
            </a:r>
            <a:r>
              <a:rPr sz="840" b="0">
                <a:solidFill>
                  <a:srgbClr val="82AAFF"/>
                </a:solidFill>
                <a:latin typeface="DejaVu Sans Mono"/>
              </a:rPr>
              <a:t>Identifiants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valides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3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Étant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donné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un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utilisateur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inscrit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4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Quand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il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soumet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le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formulaire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5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Alors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il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est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redirigé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vers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A5E075"/>
                </a:solidFill>
                <a:latin typeface="DejaVu Sans Mono"/>
              </a:rPr>
              <a:t>"/dashboard"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40577A"/>
                </a:solidFill>
                <a:latin typeface="DejaVu Sans Mono"/>
              </a:rPr>
              <a:t> 6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 </a:t>
            </a:r>
            <a:r>
              <a:rPr sz="840" b="0">
                <a:solidFill>
                  <a:srgbClr val="C792EA"/>
                </a:solidFill>
                <a:latin typeface="DejaVu Sans Mono"/>
              </a:rPr>
              <a:t>Et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un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jeton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82AAFF"/>
                </a:solidFill>
                <a:latin typeface="DejaVu Sans Mono"/>
              </a:rPr>
              <a:t>JWT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est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 </a:t>
            </a:r>
            <a:r>
              <a:rPr sz="840" b="0">
                <a:solidFill>
                  <a:srgbClr val="D7E3F4"/>
                </a:solidFill>
                <a:latin typeface="DejaVu Sans Mono"/>
              </a:rPr>
              <a:t>stocké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74920"/>
            <a:ext cx="5074920" cy="117043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7" y="52120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160">
                <a:solidFill>
                  <a:srgbClr val="2F5BEA"/>
                </a:solidFill>
                <a:latin typeface="Lato"/>
              </a:rPr>
              <a:t>IMPLÉMENTATION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54406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0B1B33"/>
                </a:solidFill>
                <a:latin typeface="Lato"/>
              </a:rPr>
              <a:t>MockMvc (intégration) + Cypress (E2E)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742432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2F5BEA"/>
                </a:solidFill>
                <a:latin typeface="DejaVu Sans Mono"/>
              </a:rPr>
              <a:t>./mvnw verify   ·   npx cypress run</a:t>
            </a:r>
          </a:p>
        </p:txBody>
      </p:sp>
      <p:pic>
        <p:nvPicPr>
          <p:cNvPr id="32" name="Picture 31" descr="rapport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193792" cy="392701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55080" y="5806440"/>
            <a:ext cx="5193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1">
                <a:solidFill>
                  <a:srgbClr val="5D6E86"/>
                </a:solidFill>
                <a:latin typeface="Lato"/>
              </a:rPr>
              <a:t>Le test attend 401, l'application renvoie 200 : le rapport localise le bug.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68580" cy="201168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1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200">
                <a:solidFill>
                  <a:srgbClr val="F05A28"/>
                </a:solidFill>
                <a:latin typeface="Lato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B33"/>
                </a:solidFill>
                <a:latin typeface="Lato"/>
              </a:rPr>
              <a:t>Un build réussi ne suffit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D6E86"/>
                </a:solidFill>
                <a:latin typeface="Lato"/>
              </a:rPr>
              <a:t>Quatre réflexes, une seule décision : GO ou NO-GO.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11535" cy="10972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911535" cy="9144"/>
          </a:xfrm>
          <a:prstGeom prst="rect">
            <a:avLst/>
          </a:prstGeom>
          <a:solidFill>
            <a:srgbClr val="DC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TP9 · Les Tests dans le cycle de vie d'une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5013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D6E86"/>
                </a:solidFill>
                <a:latin typeface="Lato"/>
              </a:rPr>
              <a:t>10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532180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1783080"/>
            <a:ext cx="54864" cy="1078992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9536" y="191109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05A28"/>
                </a:solidFill>
                <a:latin typeface="Lat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92938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 i="0">
                <a:solidFill>
                  <a:srgbClr val="0B1B33"/>
                </a:solidFill>
                <a:latin typeface="Lato"/>
              </a:rPr>
              <a:t>Tester, c'est prouver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1343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5D6E86"/>
                </a:solidFill>
                <a:latin typeface="Lato"/>
              </a:rPr>
              <a:t>Comparer l'attendu au réel.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32180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72200" y="1783080"/>
            <a:ext cx="54864" cy="107899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91656" y="191109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9F8E"/>
                </a:solidFill>
                <a:latin typeface="Lat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92938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 i="0">
                <a:solidFill>
                  <a:srgbClr val="0B1B33"/>
                </a:solidFill>
                <a:latin typeface="Lato"/>
              </a:rPr>
              <a:t>La pyramide guide l'effort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31343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5D6E86"/>
                </a:solidFill>
                <a:latin typeface="Lato"/>
              </a:rPr>
              <a:t>70 % unitaires, 20 % intégration, 10 % E2E.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26664"/>
            <a:ext cx="532180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0080" y="3026664"/>
            <a:ext cx="54864" cy="1078992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9536" y="3154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5BEA"/>
                </a:solidFill>
                <a:latin typeface="Lat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31729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 i="0">
                <a:solidFill>
                  <a:srgbClr val="0B1B33"/>
                </a:solidFill>
                <a:latin typeface="Lato"/>
              </a:rPr>
              <a:t>Le rapport donne le 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5701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5D6E86"/>
                </a:solidFill>
                <a:latin typeface="Lato"/>
              </a:rPr>
              <a:t>GO autorise la Release ; un échec bloque.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26664"/>
            <a:ext cx="532180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72200" y="3026664"/>
            <a:ext cx="54864" cy="1078992"/>
          </a:xfrm>
          <a:prstGeom prst="rect">
            <a:avLst/>
          </a:prstGeom>
          <a:solidFill>
            <a:srgbClr val="15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91656" y="3154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9A55"/>
                </a:solidFill>
                <a:latin typeface="Lat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1729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 i="0">
                <a:solidFill>
                  <a:srgbClr val="0B1B33"/>
                </a:solidFill>
                <a:latin typeface="Lato"/>
              </a:rPr>
              <a:t>Fonctionnel + non-fonctionnel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55701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5D6E86"/>
                </a:solidFill>
                <a:latin typeface="Lato"/>
              </a:rPr>
              <a:t>Le « quoi » et le « comment ».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34840"/>
            <a:ext cx="10911535" cy="822960"/>
          </a:xfrm>
          <a:prstGeom prst="roundRect">
            <a:avLst>
              <a:gd name="adj" fmla="val 6000"/>
            </a:avLst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459943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Lato"/>
              </a:rPr>
              <a:t>Code review ✓   +   Build ✓   +   Tests ✓   =   prêt pour la 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56048"/>
            <a:ext cx="10911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 i="0">
                <a:solidFill>
                  <a:srgbClr val="B9CBE3"/>
                </a:solidFill>
                <a:latin typeface="Lato"/>
              </a:rPr>
              <a:t>Livrer en confiance, pas seulement livrer.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440680"/>
            <a:ext cx="10911535" cy="8229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C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41247" y="55595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 spc="150">
                <a:solidFill>
                  <a:srgbClr val="F05A28"/>
                </a:solidFill>
                <a:latin typeface="Lato"/>
              </a:rPr>
              <a:t>RÉFÉRENCES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5760720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0B1B33"/>
                </a:solidFill>
                <a:latin typeface="Lato"/>
              </a:rPr>
              <a:t>Angular · </a:t>
            </a:r>
            <a:r>
              <a:rPr sz="660" b="0" i="0">
                <a:solidFill>
                  <a:srgbClr val="5D6E86"/>
                </a:solidFill>
                <a:latin typeface="DejaVu Sans Mono"/>
              </a:rPr>
              <a:t>angular.dev/guide/testing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5760720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0B1B33"/>
                </a:solidFill>
                <a:latin typeface="Lato"/>
              </a:rPr>
              <a:t>Cypress · </a:t>
            </a:r>
            <a:r>
              <a:rPr sz="660" b="0" i="0">
                <a:solidFill>
                  <a:srgbClr val="5D6E86"/>
                </a:solidFill>
                <a:latin typeface="DejaVu Sans Mono"/>
              </a:rPr>
              <a:t>docs.cypress.io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7" y="5760720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0B1B33"/>
                </a:solidFill>
                <a:latin typeface="Lato"/>
              </a:rPr>
              <a:t>JUnit 5 · </a:t>
            </a:r>
            <a:r>
              <a:rPr sz="660" b="0" i="0">
                <a:solidFill>
                  <a:srgbClr val="5D6E86"/>
                </a:solidFill>
                <a:latin typeface="DejaVu Sans Mono"/>
              </a:rPr>
              <a:t>junit.org/junit5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980176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0B1B33"/>
                </a:solidFill>
                <a:latin typeface="Lato"/>
              </a:rPr>
              <a:t>Spring · </a:t>
            </a:r>
            <a:r>
              <a:rPr sz="660" b="0" i="0">
                <a:solidFill>
                  <a:srgbClr val="5D6E86"/>
                </a:solidFill>
                <a:latin typeface="DejaVu Sans Mono"/>
              </a:rPr>
              <a:t>docs.spring.io/spring-boot/reference/testing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5980176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0B1B33"/>
                </a:solidFill>
                <a:latin typeface="Lato"/>
              </a:rPr>
              <a:t>k6 · </a:t>
            </a:r>
            <a:r>
              <a:rPr sz="660" b="0" i="0">
                <a:solidFill>
                  <a:srgbClr val="5D6E86"/>
                </a:solidFill>
                <a:latin typeface="DejaVu Sans Mono"/>
              </a:rPr>
              <a:t>k6.io/docs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7" y="5980176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0B1B33"/>
                </a:solidFill>
                <a:latin typeface="Lato"/>
              </a:rPr>
              <a:t>OWASP ZAP · </a:t>
            </a:r>
            <a:r>
              <a:rPr sz="660" b="0" i="0">
                <a:solidFill>
                  <a:srgbClr val="5D6E86"/>
                </a:solidFill>
                <a:latin typeface="DejaVu Sans Mono"/>
              </a:rPr>
              <a:t>zaproxy.org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